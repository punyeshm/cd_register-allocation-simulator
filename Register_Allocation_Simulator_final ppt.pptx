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0364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</a:rPr>
              <a:t>VI SEMESTER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C0000"/>
                </a:solidFill>
              </a:rPr>
              <a:t>Register Allocation Simulator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1A"/>
                </a:solidFill>
              </a:rPr>
              <a:t>Experiential Learning – Compiler Design Lab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4114800" cy="256032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Team Members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747895"/>
              </p:ext>
            </p:extLst>
          </p:nvPr>
        </p:nvGraphicFramePr>
        <p:xfrm>
          <a:off x="914400" y="2606039"/>
          <a:ext cx="4114800" cy="457200"/>
        </p:xfrm>
        <a:graphic>
          <a:graphicData uri="http://schemas.openxmlformats.org/drawingml/2006/table">
            <a:tbl>
              <a:tblPr/>
              <a:tblGrid>
                <a:gridCol w="2279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6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R Abhi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1RV23IS097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1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Punyesh M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1RV23IS096</a:t>
                      </a:r>
                      <a:endParaRPr 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03520" y="2331720"/>
            <a:ext cx="3200400" cy="256032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Mentor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303520" y="2606040"/>
            <a:ext cx="3200400" cy="640080"/>
          </a:xfrm>
          <a:prstGeom prst="rect">
            <a:avLst/>
          </a:prstGeom>
          <a:solidFill>
            <a:srgbClr val="FAFAF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</a:rPr>
              <a:t>Prof. Poornima P K
</a:t>
            </a:r>
            <a:r>
              <a:rPr lang="en-US" sz="900" dirty="0">
                <a:solidFill>
                  <a:srgbClr val="1A1A1A"/>
                </a:solidFill>
              </a:rPr>
              <a:t>Assistant Professor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0040" y="3749040"/>
            <a:ext cx="1463040" cy="502920"/>
          </a:xfrm>
          <a:prstGeom prst="round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IR Input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1783080" y="4000500"/>
            <a:ext cx="27432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057400" y="3749040"/>
            <a:ext cx="1463040" cy="502920"/>
          </a:xfrm>
          <a:prstGeom prst="roundRect">
            <a:avLst/>
          </a:prstGeom>
          <a:solidFill>
            <a:srgbClr val="B3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05740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Liveness Analysis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520440" y="4000500"/>
            <a:ext cx="27432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794760" y="3749040"/>
            <a:ext cx="1463040" cy="502920"/>
          </a:xfrm>
          <a:prstGeom prst="round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9476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Interference Graph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5257800" y="4000500"/>
            <a:ext cx="27432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32120" y="3749040"/>
            <a:ext cx="1463040" cy="502920"/>
          </a:xfrm>
          <a:prstGeom prst="roundRect">
            <a:avLst/>
          </a:prstGeom>
          <a:solidFill>
            <a:srgbClr val="B3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3212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Chaitin Coloring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6995160" y="4000500"/>
            <a:ext cx="27432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269480" y="3749040"/>
            <a:ext cx="1463040" cy="502920"/>
          </a:xfrm>
          <a:prstGeom prst="round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9480" y="37490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Register Assignment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57200" y="43159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</a:rPr>
              <a:t>Complete LLVM IR → Register Allocation Pipeline</a:t>
            </a:r>
            <a:endParaRPr lang="en-US" sz="8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FF906A-C180-2292-1E02-A88C94DF6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14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Introduction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100" dirty="0">
                <a:solidFill>
                  <a:srgbClr val="1A1A1A"/>
                </a:solidFill>
              </a:rPr>
              <a:t>The Register Allocation Simulator is a premium developer tool that visualizes how compilers allocate CPU registers to variables. It accepts LLVM IR code, performs backward liveness analysis, builds an interference graph, runs the Chaitin graph-coloring algorithm, assigns physical registers, and detects spills — all rendered interactively in real-time.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2017696"/>
            <a:ext cx="2651760" cy="2560320"/>
          </a:xfrm>
          <a:prstGeom prst="rect">
            <a:avLst/>
          </a:prstGeom>
          <a:solidFill>
            <a:srgbClr val="CC0000"/>
          </a:solidFill>
          <a:ln w="9525">
            <a:solidFill>
              <a:srgbClr val="CC000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" y="216027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91540" y="2585045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Backend-Frontend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65860" y="3081287"/>
            <a:ext cx="237744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Independent C++ CLI and TypeScript client that never communicated. Frontend had zero API calls to the backend.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2017696"/>
            <a:ext cx="2651760" cy="2560320"/>
          </a:xfrm>
          <a:prstGeom prst="rect">
            <a:avLst/>
          </a:prstGeom>
          <a:solidFill>
            <a:srgbClr val="F9F9F9"/>
          </a:solidFill>
          <a:ln w="9525">
            <a:solidFill>
              <a:srgbClr val="DDDDD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6" name="Text 14"/>
          <p:cNvSpPr/>
          <p:nvPr/>
        </p:nvSpPr>
        <p:spPr>
          <a:xfrm>
            <a:off x="4617720" y="208483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94860" y="249330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</a:rPr>
              <a:t>Technical Gaps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068052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55555"/>
                </a:solidFill>
              </a:rPr>
              <a:t>Compilation bugs, Docker misconfig, no .env files, D3.js crashes, and missing body parsers in the API server.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7C9F6B0-DFD3-285A-0B3F-4091E7DF8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973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Problem Definition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C0000"/>
                </a:solidFill>
              </a:rPr>
              <a:t>Problem Statement: </a:t>
            </a:r>
            <a:r>
              <a:rPr lang="en-US" sz="1200" dirty="0">
                <a:solidFill>
                  <a:srgbClr val="1A1A1A"/>
                </a:solidFill>
              </a:rPr>
              <a:t>To develop an interactive LLVM IR-based register allocation simulator that visually demonstrates backward liveness analysis, interference graph construction, and Chaitin graph-coloring algorithm — enabling students and engineers to understand compiler register allocation intuitively.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23317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Develop a simulator capable of: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Parsing LLVM IR instructions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Computing USE / DEF sets per instruction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Running iterative backward liveness analysis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Building the interference graph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Running Chaitin graph coloring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</a:rPr>
              <a:t>Detecting and explaining spills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3200400" cy="310896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0" y="1005840"/>
            <a:ext cx="3200400" cy="320040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Output Decisions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23560" y="1463040"/>
            <a:ext cx="2926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4904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</a:rPr>
              <a:t>K ≥ degree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All variables fit → assign registers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23560" y="2331720"/>
            <a:ext cx="2926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</a:rPr>
              <a:t>Spill needed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23560" y="2651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High-degree nodes → memory spill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623560" y="3200400"/>
            <a:ext cx="29260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3227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0000"/>
                </a:solidFill>
              </a:rPr>
              <a:t>Heuristic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Choose spill candidate with max degree</a:t>
            </a:r>
            <a:endParaRPr lang="en-US" sz="8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4FBBB89-33F4-653B-EEA1-AEA967609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1. To visualize backward liveness analysis iteratively, showing LIVE-IN and LIVE-OUT sets converging across instructions.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400235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2. To construct and render an interactive interference graph using D3.js force-directed layout with zoom, drag, and hover.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29419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3. To implement the full Chaitin graph-coloring pipeline: Simplify → Push → Spill → Assign Colors.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058603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4. To detect register spills, explain their cause (degree ≥ K), and identify the highest-degree spill candidate.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63483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5. To build a REST API backend (Node.js + Express) connecting the C++17 CLI engine to the Next.js frontend.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46947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</a:rPr>
              <a:t>6. To enable real-time experimentation by changing K (register count) and re-running the full pipeline instantly.</a:t>
            </a:r>
            <a:endParaRPr lang="en-US" sz="11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37DA550-D39C-9346-06FD-98CCD7134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35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C0000"/>
                </a:solidFill>
              </a:rPr>
              <a:t>ALGORITHM PIPELINE &amp; DECISION 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1554480" cy="2377440"/>
          </a:xfrm>
          <a:prstGeom prst="rect">
            <a:avLst/>
          </a:prstGeom>
          <a:solidFill>
            <a:srgbClr val="FFF0F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051560"/>
            <a:ext cx="548640" cy="5486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0000"/>
                </a:solidFill>
              </a:rPr>
              <a:t>Parse IR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Extract result, opcode, operands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for each instruction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74520" y="2194560"/>
            <a:ext cx="155448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29968" y="100584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2888" y="1051560"/>
            <a:ext cx="548640" cy="5486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32888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9968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0000"/>
                </a:solidFill>
              </a:rPr>
              <a:t>Compute USE/DEF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21408" y="208483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Build USE and DEF sets per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instruction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584448" y="2194560"/>
            <a:ext cx="155448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1005840"/>
            <a:ext cx="1554480" cy="2377440"/>
          </a:xfrm>
          <a:prstGeom prst="rect">
            <a:avLst/>
          </a:prstGeom>
          <a:solidFill>
            <a:srgbClr val="FFF0F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2816" y="1051560"/>
            <a:ext cx="548640" cy="5486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39896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0000"/>
                </a:solidFill>
              </a:rPr>
              <a:t>Liveness Analysis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31336" y="208483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Backward iteration until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LIVE-IN/OUT converge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294376" y="2194560"/>
            <a:ext cx="155448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005840"/>
            <a:ext cx="15544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52744" y="1051560"/>
            <a:ext cx="548640" cy="5486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52744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9824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0000"/>
                </a:solidFill>
              </a:rPr>
              <a:t>Interference Graph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41264" y="208483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Edge between vars live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simultaneously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004304" y="2194560"/>
            <a:ext cx="155448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59752" y="1005840"/>
            <a:ext cx="1554480" cy="2377440"/>
          </a:xfrm>
          <a:prstGeom prst="rect">
            <a:avLst/>
          </a:prstGeom>
          <a:solidFill>
            <a:srgbClr val="FFF0F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62672" y="1051560"/>
            <a:ext cx="548640" cy="54864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62672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59752" y="16916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C0000"/>
                </a:solidFill>
              </a:rPr>
              <a:t>Chaitin Coloring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51192" y="2084832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Simplify → Spill →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555555"/>
                </a:solidFill>
              </a:rPr>
              <a:t>Assign Colors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4114800" cy="1188720"/>
          </a:xfrm>
          <a:prstGeom prst="rect">
            <a:avLst/>
          </a:prstGeom>
          <a:solidFill>
            <a:srgbClr val="FFF0F0"/>
          </a:solidFill>
          <a:ln w="9525">
            <a:solidFill>
              <a:srgbClr val="CC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520440"/>
            <a:ext cx="4114800" cy="292608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Spill Decision Logic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38587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• degree(v) &lt; K  →  Push to simplification stack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4123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• degree(v) ≥ K  →  Mark as SPILL candidate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389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• Pop stack  →  Assign lowest available register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520440"/>
            <a:ext cx="4114800" cy="1188720"/>
          </a:xfrm>
          <a:prstGeom prst="rect">
            <a:avLst/>
          </a:prstGeom>
          <a:solidFill>
            <a:srgbClr val="F0F8FF"/>
          </a:solidFill>
          <a:ln w="9525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520440"/>
            <a:ext cx="4114800" cy="292608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Coloring Example (K = 4)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8587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• %1 ↔ %c  (both live at I1)  →  different registers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00600" y="41239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• K=4 → all variables fit  →  No spill required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00600" y="4389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</a:rPr>
              <a:t>• K=2 → %1 degree ≥ 2  →  SPILL detected</a:t>
            </a:r>
            <a:endParaRPr lang="en-US" sz="90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FD8528C-5907-D393-D115-F1C00E1853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324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METHODOLOGY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Input LLVM IR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280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User provides IR code in the editor. 4 built-in examples available. Ctrl+Enter to run.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25780" y="1581912"/>
            <a:ext cx="0" cy="3200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03911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Parse 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8680" y="2240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Extracts result register, opcode, and operands from each IR instruction.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5780" y="2542032"/>
            <a:ext cx="0" cy="3200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99923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Backward Liveness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Iterates backward from last instruction computing LIVE-IN and LIVE-OUT until convergence.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25780" y="3502152"/>
            <a:ext cx="0" cy="3200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95935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Interference Graph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8680" y="4160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Adds edges between any two variables simultaneously live. Force-directed D3.js rendering.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107899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Chaitin Coloring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128016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Simplify low-degree nodes, spill high-degree, pop and assign lowest available register color.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60620" y="1581912"/>
            <a:ext cx="0" cy="3200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203911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0391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1965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Spill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22402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Reports spilled variables, their degree, and which registers were exhausted with explanations.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960620" y="2542032"/>
            <a:ext cx="0" cy="3200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99923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Interactive Display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30352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Results shown across 4 tabbed views with animations, play/pause, export to JSON/DOT.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960620" y="3502152"/>
            <a:ext cx="0" cy="3200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959352"/>
            <a:ext cx="502920" cy="50292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959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3886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API Fallback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41605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</a:rPr>
              <a:t>If Express backend is offline, in-browser TypeScript engine runs the full pipeline locally.</a:t>
            </a:r>
            <a:endParaRPr lang="en-US" sz="85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75A9F551-7C2D-AB08-B8E3-8249002D9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560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Proposed Tools and Techniques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133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How Used in Project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What it Demands / Produces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LLVM IR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Compiler intermediate representation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Input format for all analysis; structured text parsed line by line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IR text → parsed instructions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Next.js 15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React framework (frontend)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Hosts the simulator dashboard; App Router for page routing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TypeScript components → HTML UI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D3.js 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Graph visualization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Force-directed interference graph with zoom, drag, hover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Node/edge objects → SVG graph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Framer Motion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Animations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Smooth transitions for algorithm steps and node coloring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State changes → animated UI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Express 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REST API server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POST /analyze endpoint; CORS, body parsers, health check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IR JSON → analysis result JSON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C++17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CLI backend engine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Standalone binary: parse IR → liveness → coloring → stdout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IR file → JSON / DOT output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CMake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Build automation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Configures and builds the C++17 pass as a shared library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CMakeLists.txt → binary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Docker Compose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Container orchestration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Multi-service setup: frontend + backend with health checks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docker-compose.yml → running services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FF0D0CF2-E2DE-67F0-071B-255964491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Expected Outcomes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724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1. Accurate parsing of LLVM IR (add, sub, mul, load, store, phi, ret) with correct USE/DEF extraction.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315409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2. Correct iterative liveness analysis converging to stable LIVE-IN / LIVE-OUT sets across all instructions.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7264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3. Interactive interference graph rendered as a D3.js force-directed layout, correctly encoding simultaneous liveness.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20735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4. Full Chaitin graph-coloring pipeline: simplify, push, spill heuristic, and color assignment working end-to-end.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58479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5. Spill detection with educational explanations: which variable, its degree, and why no color was available.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2773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</a:rPr>
              <a:t>6. Structured JSON output from the REST API consumed by the Next.js frontend with automatic TypeScript fallback.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550693"/>
              </p:ext>
            </p:extLst>
          </p:nvPr>
        </p:nvGraphicFramePr>
        <p:xfrm>
          <a:off x="274320" y="2945091"/>
          <a:ext cx="8595360" cy="8915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Scenario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 (Registers)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Variables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Simple arithmetic IR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No spill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All variables assigned registers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Complex IR, low 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Spill %1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Explanation + candidate reported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Phi node with loops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No spill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A1A1A"/>
                          </a:solidFill>
                        </a:rPr>
                        <a:t>SSA-aware analysis succeeds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3151598-3E3B-EF9A-1688-09B5C6CC5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35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C0000"/>
                </a:solidFill>
              </a:rPr>
              <a:t>References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[1] G. J. Chaitin et al., 'Register Allocation via Coloring,' Computer Languages, vol. 6, no. 1, pp. 47-57, 1981.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[2] P. Briggs, K. D. Cooper, and L. Torczon, 'Improvements to Graph Coloring Register Allocation,' ACM TOPLAS, vol. 16, no. 3, pp. 428-455, 1994.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[3] M. Poletto and V. Sarkar, 'Linear Scan Register Allocation,' ACM TOPLAS, vol. 21, no. 5, pp. 895-913, 1999.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22037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[4] C. Wimmer and M. Franz, 'Linear Scan Register Allocation on SSA Form,' in Proc. CGO 2010, pp. 170-179.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[5] C. Lattner and V. Adve, 'LLVM: A Compilation Framework for Lifelong Program Analysis,' in Proc. CGO 2004, pp. 75-88.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29900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[6] LLVM Project, 'RegAllocGreedy - LLVM Register Allocator,' LLVM Documentation. [Online]. Available: https://llvm.org/docs/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[7] A. V. Aho, M. S. Lam, R. Sethi, and J. D. Ullman, Compilers: Principles, Techniques, and Tools, 2nd ed. Boston, MA: Pearson, 2006.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7764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[8] S. S. Muchnick, Advanced Compiler Design and Implementation. San Francisco, CA: Morgan Kaufmann, 1997.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41696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[9] M. D. Smith, N. Ramsey, and G. Holloway, 'A generalized algorithm for graph-coloring register allocation,' in Proc. PLDI 2004.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45628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</a:rPr>
              <a:t>[10] D3.js: Data-Driven Documents, Observable/Mike Bostock. [Online]. Available: https://d3js.org</a:t>
            </a:r>
            <a:endParaRPr lang="en-US" sz="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5108098-A5E0-DCA4-4173-F62CC3328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535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45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RV University</a:t>
            </a:r>
            <a:r>
              <a:rPr lang="en-US" sz="800" dirty="0">
                <a:solidFill>
                  <a:srgbClr val="000000"/>
                </a:solidFill>
              </a:rPr>
              <a:t>
</a:t>
            </a:r>
            <a:r>
              <a:rPr lang="en-US" sz="600" dirty="0">
                <a:solidFill>
                  <a:srgbClr val="555555"/>
                </a:solidFill>
              </a:rPr>
              <a:t>School of Engineering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55555"/>
                </a:solidFill>
              </a:rPr>
              <a:t>Go, change the world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CC0000"/>
                </a:solidFill>
              </a:rPr>
              <a:t>Thank You</a:t>
            </a:r>
            <a:endParaRPr lang="en-US" sz="4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211A1F-99FC-0A3A-FA16-7D84F27CB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502567" cy="694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1428</TotalTime>
  <Words>1470</Words>
  <Application>Microsoft Office PowerPoint</Application>
  <PresentationFormat>On-screen Show (16:9)</PresentationFormat>
  <Paragraphs>206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 Allocation Simulator</dc:title>
  <dc:subject>PptxGenJS Presentation</dc:subject>
  <dc:creator>PptxGenJS</dc:creator>
  <cp:lastModifiedBy>Punyesh M</cp:lastModifiedBy>
  <cp:revision>4</cp:revision>
  <dcterms:created xsi:type="dcterms:W3CDTF">2026-05-19T03:18:42Z</dcterms:created>
  <dcterms:modified xsi:type="dcterms:W3CDTF">2026-07-14T03:56:43Z</dcterms:modified>
</cp:coreProperties>
</file>